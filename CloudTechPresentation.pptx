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embeddedFontLst>
    <p:embeddedFont>
      <p:font typeface="Robot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A38A31A-3E40-46C0-9DFD-804F1984B9EB}">
  <a:tblStyle styleId="{FA38A31A-3E40-46C0-9DFD-804F1984B9E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.fntdata"/><Relationship Id="rId11" Type="http://schemas.openxmlformats.org/officeDocument/2006/relationships/slide" Target="slides/slide5.xml"/><Relationship Id="rId22" Type="http://schemas.openxmlformats.org/officeDocument/2006/relationships/font" Target="fonts/Roboto-boldItalic.fntdata"/><Relationship Id="rId10" Type="http://schemas.openxmlformats.org/officeDocument/2006/relationships/slide" Target="slides/slide4.xml"/><Relationship Id="rId21" Type="http://schemas.openxmlformats.org/officeDocument/2006/relationships/font" Target="fonts/Roboto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Roboto-regular.fntdata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c6f9e470d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c6f9e470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c6f9e470d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c6f9e470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aa10433e21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aa10433e21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c6f9e470d_0_2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c6f9e470d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c6f9e470d_0_3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c6f9e470d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a10433e21_0_30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aa10433e21_0_3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aa10433e21_0_31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aa10433e21_0_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c6f9e470d_0_4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c6f9e470d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c6f9e470d_0_12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c6f9e470d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aa10433e21_0_31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aa10433e21_0_3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aa10433e21_0_32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aa10433e21_0_3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aa10433e21_0_33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aa10433e21_0_3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mailto:megha.kanojia2@mail.dcu.ie" TargetMode="External"/><Relationship Id="rId4" Type="http://schemas.openxmlformats.org/officeDocument/2006/relationships/hyperlink" Target="mailto:shubin.li2@mail.dcu.ie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598100" y="133679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latin typeface="Arial"/>
                <a:ea typeface="Arial"/>
                <a:cs typeface="Arial"/>
                <a:sym typeface="Arial"/>
              </a:rPr>
              <a:t>Cloud-Based Analysis of Music Aesthetic Trends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598088" y="149453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Do Public and Professional Tastes Align?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2457200" y="152400"/>
            <a:ext cx="4503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lt1"/>
                </a:solidFill>
              </a:rPr>
              <a:t>CSC1142 Cloud Technologies</a:t>
            </a:r>
            <a:endParaRPr b="1" sz="2300">
              <a:solidFill>
                <a:schemeClr val="lt1"/>
              </a:solidFill>
            </a:endParaRPr>
          </a:p>
        </p:txBody>
      </p:sp>
      <p:graphicFrame>
        <p:nvGraphicFramePr>
          <p:cNvPr id="88" name="Google Shape;88;p13"/>
          <p:cNvGraphicFramePr/>
          <p:nvPr/>
        </p:nvGraphicFramePr>
        <p:xfrm>
          <a:off x="952500" y="3348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{FA38A31A-3E40-46C0-9DFD-804F1984B9EB}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</a:rPr>
                        <a:t>A00049618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</a:rPr>
                        <a:t>A00048674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</a:rPr>
                        <a:t>Megha Kanojia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</a:rPr>
                        <a:t>Shubin Li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sng">
                          <a:solidFill>
                            <a:schemeClr val="lt1"/>
                          </a:solidFill>
                          <a:hlinkClick r:id="rId3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megha.kanojia2@mail.dcu.ie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sng">
                          <a:solidFill>
                            <a:schemeClr val="lt1"/>
                          </a:solidFill>
                          <a:hlinkClick r:id="rId4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shubin.li2@mail.dcu.ie</a:t>
                      </a:r>
                      <a:r>
                        <a:rPr lang="en" sz="1100">
                          <a:solidFill>
                            <a:schemeClr val="lt1"/>
                          </a:solidFill>
                        </a:rPr>
                        <a:t> 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89" name="Google Shape;89;p13"/>
          <p:cNvSpPr txBox="1"/>
          <p:nvPr/>
        </p:nvSpPr>
        <p:spPr>
          <a:xfrm>
            <a:off x="3072000" y="299465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</a:rPr>
              <a:t>Submitted By: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3072000" y="2438838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MCM1 - Data Analytics</a:t>
            </a: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problem and motivation</a:t>
            </a:r>
            <a:endParaRPr/>
          </a:p>
        </p:txBody>
      </p:sp>
      <p:grpSp>
        <p:nvGrpSpPr>
          <p:cNvPr id="96" name="Google Shape;96;p14"/>
          <p:cNvGrpSpPr/>
          <p:nvPr/>
        </p:nvGrpSpPr>
        <p:grpSpPr>
          <a:xfrm>
            <a:off x="431925" y="1304875"/>
            <a:ext cx="2628925" cy="3416400"/>
            <a:chOff x="431925" y="1304875"/>
            <a:chExt cx="2628925" cy="3416400"/>
          </a:xfrm>
        </p:grpSpPr>
        <p:sp>
          <p:nvSpPr>
            <p:cNvPr id="97" name="Google Shape;97;p14"/>
            <p:cNvSpPr txBox="1"/>
            <p:nvPr/>
          </p:nvSpPr>
          <p:spPr>
            <a:xfrm>
              <a:off x="431925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14"/>
            <p:cNvSpPr/>
            <p:nvPr/>
          </p:nvSpPr>
          <p:spPr>
            <a:xfrm>
              <a:off x="43195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9" name="Google Shape;99;p14"/>
          <p:cNvSpPr txBox="1"/>
          <p:nvPr>
            <p:ph idx="4294967295" type="body"/>
          </p:nvPr>
        </p:nvSpPr>
        <p:spPr>
          <a:xfrm>
            <a:off x="506425" y="1304875"/>
            <a:ext cx="24945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Music Industry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0" name="Google Shape;100;p14"/>
          <p:cNvSpPr txBox="1"/>
          <p:nvPr>
            <p:ph idx="4294967295" type="body"/>
          </p:nvPr>
        </p:nvSpPr>
        <p:spPr>
          <a:xfrm>
            <a:off x="508325" y="1850300"/>
            <a:ext cx="2478600" cy="27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Exploring the gap between expert aesthetics and public preferences.</a:t>
            </a:r>
            <a:endParaRPr sz="2400"/>
          </a:p>
        </p:txBody>
      </p:sp>
      <p:grpSp>
        <p:nvGrpSpPr>
          <p:cNvPr id="101" name="Google Shape;101;p14"/>
          <p:cNvGrpSpPr/>
          <p:nvPr/>
        </p:nvGrpSpPr>
        <p:grpSpPr>
          <a:xfrm>
            <a:off x="3320450" y="1304875"/>
            <a:ext cx="2632500" cy="3416400"/>
            <a:chOff x="3320450" y="1304875"/>
            <a:chExt cx="2632500" cy="3416400"/>
          </a:xfrm>
        </p:grpSpPr>
        <p:sp>
          <p:nvSpPr>
            <p:cNvPr id="102" name="Google Shape;102;p14"/>
            <p:cNvSpPr txBox="1"/>
            <p:nvPr/>
          </p:nvSpPr>
          <p:spPr>
            <a:xfrm>
              <a:off x="3324050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4"/>
            <p:cNvSpPr/>
            <p:nvPr/>
          </p:nvSpPr>
          <p:spPr>
            <a:xfrm>
              <a:off x="332045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4" name="Google Shape;104;p14"/>
          <p:cNvSpPr txBox="1"/>
          <p:nvPr>
            <p:ph idx="4294967295" type="body"/>
          </p:nvPr>
        </p:nvSpPr>
        <p:spPr>
          <a:xfrm>
            <a:off x="3389450" y="1304875"/>
            <a:ext cx="24945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Solution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5" name="Google Shape;105;p14"/>
          <p:cNvSpPr txBox="1"/>
          <p:nvPr>
            <p:ph idx="4294967295" type="body"/>
          </p:nvPr>
        </p:nvSpPr>
        <p:spPr>
          <a:xfrm>
            <a:off x="3396775" y="1850300"/>
            <a:ext cx="2478600" cy="27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 end-to-end cloud-based pipeline for data processing and analysis.</a:t>
            </a:r>
            <a:endParaRPr sz="1900"/>
          </a:p>
        </p:txBody>
      </p:sp>
      <p:grpSp>
        <p:nvGrpSpPr>
          <p:cNvPr id="106" name="Google Shape;106;p14"/>
          <p:cNvGrpSpPr/>
          <p:nvPr/>
        </p:nvGrpSpPr>
        <p:grpSpPr>
          <a:xfrm>
            <a:off x="6212550" y="1304875"/>
            <a:ext cx="2632500" cy="3416400"/>
            <a:chOff x="6212550" y="1304875"/>
            <a:chExt cx="2632500" cy="3416400"/>
          </a:xfrm>
        </p:grpSpPr>
        <p:sp>
          <p:nvSpPr>
            <p:cNvPr id="107" name="Google Shape;107;p14"/>
            <p:cNvSpPr/>
            <p:nvPr/>
          </p:nvSpPr>
          <p:spPr>
            <a:xfrm>
              <a:off x="621540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4"/>
            <p:cNvSpPr txBox="1"/>
            <p:nvPr/>
          </p:nvSpPr>
          <p:spPr>
            <a:xfrm>
              <a:off x="6212550" y="1304875"/>
              <a:ext cx="26325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14"/>
          <p:cNvSpPr txBox="1"/>
          <p:nvPr>
            <p:ph idx="4294967295" type="body"/>
          </p:nvPr>
        </p:nvSpPr>
        <p:spPr>
          <a:xfrm>
            <a:off x="6272475" y="1304875"/>
            <a:ext cx="24945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Result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10" name="Google Shape;110;p14"/>
          <p:cNvSpPr txBox="1"/>
          <p:nvPr>
            <p:ph idx="4294967295" type="body"/>
          </p:nvPr>
        </p:nvSpPr>
        <p:spPr>
          <a:xfrm>
            <a:off x="6286400" y="1850300"/>
            <a:ext cx="2478600" cy="27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comparison across three groups: Grammy, Spotify Top 100, and General Spotify.</a:t>
            </a:r>
            <a:endParaRPr sz="1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Technologies Used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16" name="Google Shape;116;p15"/>
          <p:cNvGraphicFramePr/>
          <p:nvPr/>
        </p:nvGraphicFramePr>
        <p:xfrm>
          <a:off x="952500" y="1429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{FA38A31A-3E40-46C0-9DFD-804F1984B9EB}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45720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</a:rPr>
                        <a:t>PySpark</a:t>
                      </a:r>
                      <a:endParaRPr sz="2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The core </a:t>
                      </a:r>
                      <a:r>
                        <a:rPr b="1" lang="en" sz="1500"/>
                        <a:t>ETL (Extract, Transform, Load)</a:t>
                      </a:r>
                      <a:r>
                        <a:rPr lang="en" sz="1500"/>
                        <a:t> engine</a:t>
                      </a:r>
                      <a:endParaRPr sz="15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45720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</a:rPr>
                        <a:t>Google Colab + Drive</a:t>
                      </a:r>
                      <a:endParaRPr sz="2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Infrastructure and Storage</a:t>
                      </a:r>
                      <a:endParaRPr sz="15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45720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</a:rPr>
                        <a:t>Parquet</a:t>
                      </a:r>
                      <a:endParaRPr sz="2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Optimized and Reproducible Intermediate Storage</a:t>
                      </a:r>
                      <a:endParaRPr sz="15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45720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2000">
                          <a:solidFill>
                            <a:schemeClr val="dk1"/>
                          </a:solidFill>
                        </a:rPr>
                        <a:t>Pandas + Seaborn + ipywidgets</a:t>
                      </a:r>
                      <a:endParaRPr sz="2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Analytics &amp; Visualization</a:t>
                      </a:r>
                      <a:endParaRPr sz="15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Pipeline Overview</a:t>
            </a:r>
            <a:endParaRPr/>
          </a:p>
        </p:txBody>
      </p:sp>
      <p:sp>
        <p:nvSpPr>
          <p:cNvPr id="122" name="Google Shape;122;p16"/>
          <p:cNvSpPr/>
          <p:nvPr/>
        </p:nvSpPr>
        <p:spPr>
          <a:xfrm>
            <a:off x="432350" y="1467988"/>
            <a:ext cx="2469300" cy="607800"/>
          </a:xfrm>
          <a:prstGeom prst="homePlat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6"/>
          <p:cNvSpPr txBox="1"/>
          <p:nvPr>
            <p:ph idx="4294967295" type="body"/>
          </p:nvPr>
        </p:nvSpPr>
        <p:spPr>
          <a:xfrm>
            <a:off x="432350" y="1614689"/>
            <a:ext cx="2257200" cy="3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Data Extraction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24" name="Google Shape;124;p16"/>
          <p:cNvSpPr/>
          <p:nvPr/>
        </p:nvSpPr>
        <p:spPr>
          <a:xfrm>
            <a:off x="3044777" y="1467988"/>
            <a:ext cx="2760600" cy="6078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6"/>
          <p:cNvSpPr txBox="1"/>
          <p:nvPr>
            <p:ph idx="4294967295" type="body"/>
          </p:nvPr>
        </p:nvSpPr>
        <p:spPr>
          <a:xfrm>
            <a:off x="3336150" y="1614689"/>
            <a:ext cx="2257200" cy="3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Cleaning &amp; Normalization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26" name="Google Shape;126;p16"/>
          <p:cNvSpPr/>
          <p:nvPr/>
        </p:nvSpPr>
        <p:spPr>
          <a:xfrm>
            <a:off x="5948502" y="1467988"/>
            <a:ext cx="2760600" cy="6078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6"/>
          <p:cNvSpPr txBox="1"/>
          <p:nvPr>
            <p:ph idx="4294967295" type="body"/>
          </p:nvPr>
        </p:nvSpPr>
        <p:spPr>
          <a:xfrm>
            <a:off x="6254233" y="1614689"/>
            <a:ext cx="2257200" cy="3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Entity Matching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28" name="Google Shape;128;p16"/>
          <p:cNvSpPr/>
          <p:nvPr/>
        </p:nvSpPr>
        <p:spPr>
          <a:xfrm>
            <a:off x="433625" y="3229774"/>
            <a:ext cx="2469300" cy="607800"/>
          </a:xfrm>
          <a:prstGeom prst="homePlat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6"/>
          <p:cNvSpPr txBox="1"/>
          <p:nvPr>
            <p:ph idx="4294967295" type="body"/>
          </p:nvPr>
        </p:nvSpPr>
        <p:spPr>
          <a:xfrm>
            <a:off x="433625" y="3376474"/>
            <a:ext cx="2257200" cy="3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Ranking &amp; Filtering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30" name="Google Shape;130;p16"/>
          <p:cNvSpPr/>
          <p:nvPr/>
        </p:nvSpPr>
        <p:spPr>
          <a:xfrm>
            <a:off x="3046052" y="3229774"/>
            <a:ext cx="2760600" cy="6078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6"/>
          <p:cNvSpPr txBox="1"/>
          <p:nvPr>
            <p:ph idx="4294967295" type="body"/>
          </p:nvPr>
        </p:nvSpPr>
        <p:spPr>
          <a:xfrm>
            <a:off x="3337425" y="3376474"/>
            <a:ext cx="2257200" cy="3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Parquet Output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32" name="Google Shape;132;p16"/>
          <p:cNvSpPr/>
          <p:nvPr/>
        </p:nvSpPr>
        <p:spPr>
          <a:xfrm>
            <a:off x="5949777" y="3229774"/>
            <a:ext cx="2760600" cy="6078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6"/>
          <p:cNvSpPr txBox="1"/>
          <p:nvPr>
            <p:ph idx="4294967295" type="body"/>
          </p:nvPr>
        </p:nvSpPr>
        <p:spPr>
          <a:xfrm>
            <a:off x="6255508" y="3376474"/>
            <a:ext cx="2257200" cy="3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Visualization</a:t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134" name="Google Shape;134;p16"/>
          <p:cNvCxnSpPr/>
          <p:nvPr/>
        </p:nvCxnSpPr>
        <p:spPr>
          <a:xfrm flipH="1" rot="10800000">
            <a:off x="121800" y="2614075"/>
            <a:ext cx="8677500" cy="3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5" name="Google Shape;135;p16"/>
          <p:cNvCxnSpPr>
            <a:stCxn id="126" idx="3"/>
          </p:cNvCxnSpPr>
          <p:nvPr/>
        </p:nvCxnSpPr>
        <p:spPr>
          <a:xfrm>
            <a:off x="8709102" y="1771888"/>
            <a:ext cx="101100" cy="8532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" name="Google Shape;136;p16"/>
          <p:cNvCxnSpPr>
            <a:endCxn id="129" idx="1"/>
          </p:cNvCxnSpPr>
          <p:nvPr/>
        </p:nvCxnSpPr>
        <p:spPr>
          <a:xfrm flipH="1" rot="-5400000">
            <a:off x="-160225" y="2939824"/>
            <a:ext cx="876000" cy="3117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7"/>
          <p:cNvSpPr txBox="1"/>
          <p:nvPr>
            <p:ph type="title"/>
          </p:nvPr>
        </p:nvSpPr>
        <p:spPr>
          <a:xfrm>
            <a:off x="243775" y="17895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Grammy Data Processing</a:t>
            </a:r>
            <a:endParaRPr/>
          </a:p>
        </p:txBody>
      </p:sp>
      <p:sp>
        <p:nvSpPr>
          <p:cNvPr id="142" name="Google Shape;142;p17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Filtered for Record of the Year entries from 2000–2023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Applied regex cleaning and case normalization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Performed automatic and manual entity matching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Output: grammy_group_parquet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 txBox="1"/>
          <p:nvPr>
            <p:ph type="title"/>
          </p:nvPr>
        </p:nvSpPr>
        <p:spPr>
          <a:xfrm>
            <a:off x="243775" y="17895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Spotify Data Processing</a:t>
            </a:r>
            <a:endParaRPr/>
          </a:p>
        </p:txBody>
      </p:sp>
      <p:sp>
        <p:nvSpPr>
          <p:cNvPr id="148" name="Google Shape;148;p18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1.15 million records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Multiline fields and embedded quotes caused parsing errors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Handled using Spark’s special parsing options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After cleaning, the data could be correctly partitioned by year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Output: spotify_group_parquet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9"/>
          <p:cNvSpPr txBox="1"/>
          <p:nvPr>
            <p:ph type="title"/>
          </p:nvPr>
        </p:nvSpPr>
        <p:spPr>
          <a:xfrm>
            <a:off x="243775" y="17895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Extracting Spotify Top 100</a:t>
            </a:r>
            <a:endParaRPr/>
          </a:p>
        </p:txBody>
      </p:sp>
      <p:sp>
        <p:nvSpPr>
          <p:cNvPr id="154" name="Google Shape;154;p1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Partitioning + sorting + windowing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2,400 top-ranked tracks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Performed a horizontal merge with the Grammy group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Output: spotify_group_parquet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Interactive Visuals 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1"/>
          <p:cNvSpPr txBox="1"/>
          <p:nvPr>
            <p:ph type="title"/>
          </p:nvPr>
        </p:nvSpPr>
        <p:spPr>
          <a:xfrm>
            <a:off x="265500" y="415925"/>
            <a:ext cx="4045200" cy="74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Line chart</a:t>
            </a:r>
            <a:endParaRPr/>
          </a:p>
        </p:txBody>
      </p:sp>
      <p:sp>
        <p:nvSpPr>
          <p:cNvPr id="165" name="Google Shape;165;p21"/>
          <p:cNvSpPr txBox="1"/>
          <p:nvPr>
            <p:ph idx="1" type="subTitle"/>
          </p:nvPr>
        </p:nvSpPr>
        <p:spPr>
          <a:xfrm>
            <a:off x="4832675" y="267926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</a:pPr>
            <a:r>
              <a:rPr lang="en" sz="1700">
                <a:solidFill>
                  <a:schemeClr val="lt1"/>
                </a:solidFill>
              </a:rPr>
              <a:t>Line charts showing 23-year trends</a:t>
            </a:r>
            <a:endParaRPr sz="1700">
              <a:solidFill>
                <a:schemeClr val="lt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</a:pPr>
            <a:r>
              <a:rPr lang="en" sz="1700">
                <a:solidFill>
                  <a:schemeClr val="lt1"/>
                </a:solidFill>
              </a:rPr>
              <a:t>14 audio features</a:t>
            </a:r>
            <a:endParaRPr sz="1700">
              <a:solidFill>
                <a:schemeClr val="lt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</a:pPr>
            <a:r>
              <a:rPr lang="en" sz="1700">
                <a:solidFill>
                  <a:schemeClr val="lt1"/>
                </a:solidFill>
              </a:rPr>
              <a:t>Switchable Mean / Median</a:t>
            </a:r>
            <a:endParaRPr sz="1700">
              <a:solidFill>
                <a:schemeClr val="lt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</a:pPr>
            <a:r>
              <a:rPr lang="en" sz="1700">
                <a:solidFill>
                  <a:schemeClr val="lt1"/>
                </a:solidFill>
              </a:rPr>
              <a:t>Three groups compared: Critically Acclaimed, Listener Hits (Top100), General Population</a:t>
            </a:r>
            <a:endParaRPr sz="1700">
              <a:solidFill>
                <a:schemeClr val="lt1"/>
              </a:solidFill>
            </a:endParaRPr>
          </a:p>
        </p:txBody>
      </p:sp>
      <p:pic>
        <p:nvPicPr>
          <p:cNvPr id="166" name="Google Shape;16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4975" y="2255738"/>
            <a:ext cx="5734050" cy="2524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2"/>
          <p:cNvSpPr txBox="1"/>
          <p:nvPr>
            <p:ph type="title"/>
          </p:nvPr>
        </p:nvSpPr>
        <p:spPr>
          <a:xfrm>
            <a:off x="265500" y="840025"/>
            <a:ext cx="4045200" cy="74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Stacked bar chart</a:t>
            </a:r>
            <a:endParaRPr/>
          </a:p>
        </p:txBody>
      </p:sp>
      <p:sp>
        <p:nvSpPr>
          <p:cNvPr id="172" name="Google Shape;172;p22"/>
          <p:cNvSpPr txBox="1"/>
          <p:nvPr>
            <p:ph idx="1" type="subTitle"/>
          </p:nvPr>
        </p:nvSpPr>
        <p:spPr>
          <a:xfrm>
            <a:off x="4832675" y="267926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</a:pPr>
            <a:r>
              <a:rPr lang="en" sz="1700">
                <a:solidFill>
                  <a:schemeClr val="lt1"/>
                </a:solidFill>
              </a:rPr>
              <a:t>Top 10 genres horizontal stacked bar chart</a:t>
            </a:r>
            <a:endParaRPr sz="1700">
              <a:solidFill>
                <a:schemeClr val="lt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</a:pPr>
            <a:r>
              <a:rPr lang="en" sz="1700">
                <a:solidFill>
                  <a:schemeClr val="lt1"/>
                </a:solidFill>
              </a:rPr>
              <a:t>Three groups compared</a:t>
            </a:r>
            <a:endParaRPr sz="1700"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</a:endParaRPr>
          </a:p>
        </p:txBody>
      </p:sp>
      <p:pic>
        <p:nvPicPr>
          <p:cNvPr id="173" name="Google Shape;17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67075" y="1809075"/>
            <a:ext cx="5209850" cy="297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3"/>
          <p:cNvSpPr txBox="1"/>
          <p:nvPr>
            <p:ph type="title"/>
          </p:nvPr>
        </p:nvSpPr>
        <p:spPr>
          <a:xfrm>
            <a:off x="265500" y="2201400"/>
            <a:ext cx="4045200" cy="74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Findings</a:t>
            </a:r>
            <a:endParaRPr/>
          </a:p>
        </p:txBody>
      </p:sp>
      <p:sp>
        <p:nvSpPr>
          <p:cNvPr id="179" name="Google Shape;179;p23"/>
          <p:cNvSpPr txBox="1"/>
          <p:nvPr>
            <p:ph idx="1" type="subTitle"/>
          </p:nvPr>
        </p:nvSpPr>
        <p:spPr>
          <a:xfrm>
            <a:off x="4767425" y="130245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</a:pPr>
            <a:r>
              <a:rPr lang="en" sz="1700">
                <a:solidFill>
                  <a:schemeClr val="lt1"/>
                </a:solidFill>
              </a:rPr>
              <a:t>There is a gap between expert aesthetics and public preferences.</a:t>
            </a:r>
            <a:endParaRPr sz="1700">
              <a:solidFill>
                <a:schemeClr val="lt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</a:pPr>
            <a:r>
              <a:rPr lang="en" sz="1700">
                <a:solidFill>
                  <a:schemeClr val="lt1"/>
                </a:solidFill>
              </a:rPr>
              <a:t>The interactive analysis tool can be extended to other music platforms.</a:t>
            </a:r>
            <a:endParaRPr sz="1700">
              <a:solidFill>
                <a:schemeClr val="lt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</a:pPr>
            <a:r>
              <a:rPr lang="en" sz="1700">
                <a:solidFill>
                  <a:schemeClr val="lt1"/>
                </a:solidFill>
              </a:rPr>
              <a:t>The cloud-based pipeline is reusable.</a:t>
            </a:r>
            <a:endParaRPr sz="1700">
              <a:solidFill>
                <a:schemeClr val="lt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4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